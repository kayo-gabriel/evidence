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8.svg" ContentType="image/svg"/>
  <Override PartName="/ppt/media/image6.png" ContentType="image/png"/>
  <Override PartName="/ppt/media/image10.png" ContentType="image/png"/>
  <Override PartName="/ppt/media/image7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F29771-9621-4468-B485-EE8B4BF9CCB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A6F3B-237C-44C3-93CB-CADF0CE5C9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1A3C9C-62E3-4B03-94E0-CD707E55C8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5297F1-2D3E-4B4A-AB70-A4B6915348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87AFC1-756D-4ECE-8D9F-1497175AC6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4919E9-E339-484A-81D1-FF5B480AAA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CE4779-DA16-45CA-9203-74E440014F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6D94B0-66D7-4728-B1CE-CE6D0ACFB1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FC4959-EFCC-482A-A872-01BAD32B49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B84BD5-D63A-4961-BC2A-FADF91B024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FDB89-6A63-44D6-9641-31C18F6D6C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-191520" y="-191520"/>
            <a:ext cx="383040" cy="383040"/>
            <a:chOff x="-191520" y="-191520"/>
            <a:chExt cx="383040" cy="383040"/>
          </a:xfrm>
        </p:grpSpPr>
        <p:sp>
          <p:nvSpPr>
            <p:cNvPr id="60" name="Freeform 3"/>
            <p:cNvSpPr/>
            <p:nvPr/>
          </p:nvSpPr>
          <p:spPr>
            <a:xfrm>
              <a:off x="-191520" y="-191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TextBox 4"/>
            <p:cNvSpPr/>
            <p:nvPr/>
          </p:nvSpPr>
          <p:spPr>
            <a:xfrm>
              <a:off x="-155880" y="-17388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2" name="Freeform 5"/>
          <p:cNvSpPr/>
          <p:nvPr/>
        </p:nvSpPr>
        <p:spPr>
          <a:xfrm>
            <a:off x="191520" y="191520"/>
            <a:ext cx="1005480" cy="1005480"/>
          </a:xfrm>
          <a:custGeom>
            <a:avLst/>
            <a:gdLst>
              <a:gd name="textAreaLeft" fmla="*/ 0 w 1005480"/>
              <a:gd name="textAreaRight" fmla="*/ 1005840 w 1005480"/>
              <a:gd name="textAreaTop" fmla="*/ 0 h 1005480"/>
              <a:gd name="textAreaBottom" fmla="*/ 1005840 h 1005480"/>
            </a:gdLst>
            <a:ahLst/>
            <a:cxnLst/>
            <a:rect l="textAreaLeft" t="textAreaTop" r="textAreaRight" b="textAreaBottom"/>
            <a:pathLst>
              <a:path w="1005956" h="1005956">
                <a:moveTo>
                  <a:pt x="0" y="0"/>
                </a:moveTo>
                <a:lnTo>
                  <a:pt x="1005957" y="0"/>
                </a:lnTo>
                <a:lnTo>
                  <a:pt x="1005957" y="1005957"/>
                </a:lnTo>
                <a:lnTo>
                  <a:pt x="0" y="10059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AutoShape 6"/>
          <p:cNvSpPr/>
          <p:nvPr/>
        </p:nvSpPr>
        <p:spPr>
          <a:xfrm flipV="1">
            <a:off x="16288560" y="466560"/>
            <a:ext cx="1908360" cy="547560"/>
          </a:xfrm>
          <a:prstGeom prst="line">
            <a:avLst/>
          </a:prstGeom>
          <a:ln w="38100">
            <a:solidFill>
              <a:srgbClr val="62362f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16895160" y="465840"/>
            <a:ext cx="298800" cy="547920"/>
            <a:chOff x="16895160" y="465840"/>
            <a:chExt cx="298800" cy="547920"/>
          </a:xfrm>
        </p:grpSpPr>
        <p:sp>
          <p:nvSpPr>
            <p:cNvPr id="65" name="Freeform 8"/>
            <p:cNvSpPr/>
            <p:nvPr/>
          </p:nvSpPr>
          <p:spPr>
            <a:xfrm>
              <a:off x="16895160" y="557640"/>
              <a:ext cx="298800" cy="45612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456120"/>
                <a:gd name="textAreaBottom" fmla="*/ 456480 h 456120"/>
              </a:gdLst>
              <a:ahLst/>
              <a:cxnLst/>
              <a:rect l="textAreaLeft" t="textAreaTop" r="textAreaRight" b="textAreaBottom"/>
              <a:pathLst>
                <a:path w="124014" h="189253">
                  <a:moveTo>
                    <a:pt x="0" y="0"/>
                  </a:moveTo>
                  <a:lnTo>
                    <a:pt x="124014" y="0"/>
                  </a:lnTo>
                  <a:lnTo>
                    <a:pt x="124014" y="189253"/>
                  </a:lnTo>
                  <a:lnTo>
                    <a:pt x="0" y="189253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9"/>
            <p:cNvSpPr/>
            <p:nvPr/>
          </p:nvSpPr>
          <p:spPr>
            <a:xfrm>
              <a:off x="16895160" y="465840"/>
              <a:ext cx="29880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7" name="Group 10"/>
          <p:cNvGrpSpPr/>
          <p:nvPr/>
        </p:nvGrpSpPr>
        <p:grpSpPr>
          <a:xfrm>
            <a:off x="16471800" y="283320"/>
            <a:ext cx="298800" cy="730440"/>
            <a:chOff x="16471800" y="283320"/>
            <a:chExt cx="298800" cy="730440"/>
          </a:xfrm>
        </p:grpSpPr>
        <p:sp>
          <p:nvSpPr>
            <p:cNvPr id="68" name="Freeform 11"/>
            <p:cNvSpPr/>
            <p:nvPr/>
          </p:nvSpPr>
          <p:spPr>
            <a:xfrm>
              <a:off x="16471800" y="375120"/>
              <a:ext cx="298800" cy="63864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638640"/>
                <a:gd name="textAreaBottom" fmla="*/ 639000 h 638640"/>
              </a:gdLst>
              <a:ahLst/>
              <a:cxnLst/>
              <a:rect l="textAreaLeft" t="textAreaTop" r="textAreaRight" b="textAreaBottom"/>
              <a:pathLst>
                <a:path w="124014" h="264943">
                  <a:moveTo>
                    <a:pt x="0" y="0"/>
                  </a:moveTo>
                  <a:lnTo>
                    <a:pt x="124014" y="0"/>
                  </a:lnTo>
                  <a:lnTo>
                    <a:pt x="124014" y="264943"/>
                  </a:lnTo>
                  <a:lnTo>
                    <a:pt x="0" y="264943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12"/>
            <p:cNvSpPr/>
            <p:nvPr/>
          </p:nvSpPr>
          <p:spPr>
            <a:xfrm>
              <a:off x="16471800" y="283320"/>
              <a:ext cx="298800" cy="73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0" name="Group 13"/>
          <p:cNvGrpSpPr/>
          <p:nvPr/>
        </p:nvGrpSpPr>
        <p:grpSpPr>
          <a:xfrm>
            <a:off x="17321400" y="401760"/>
            <a:ext cx="298800" cy="612360"/>
            <a:chOff x="17321400" y="401760"/>
            <a:chExt cx="298800" cy="612360"/>
          </a:xfrm>
        </p:grpSpPr>
        <p:sp>
          <p:nvSpPr>
            <p:cNvPr id="71" name="Freeform 14"/>
            <p:cNvSpPr/>
            <p:nvPr/>
          </p:nvSpPr>
          <p:spPr>
            <a:xfrm>
              <a:off x="17321400" y="493920"/>
              <a:ext cx="298800" cy="52020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520200"/>
                <a:gd name="textAreaBottom" fmla="*/ 520560 h 520200"/>
              </a:gdLst>
              <a:ahLst/>
              <a:cxnLst/>
              <a:rect l="textAreaLeft" t="textAreaTop" r="textAreaRight" b="textAreaBottom"/>
              <a:pathLst>
                <a:path w="124014" h="215744">
                  <a:moveTo>
                    <a:pt x="0" y="0"/>
                  </a:moveTo>
                  <a:lnTo>
                    <a:pt x="124014" y="0"/>
                  </a:lnTo>
                  <a:lnTo>
                    <a:pt x="124014" y="215744"/>
                  </a:lnTo>
                  <a:lnTo>
                    <a:pt x="0" y="215744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15"/>
            <p:cNvSpPr/>
            <p:nvPr/>
          </p:nvSpPr>
          <p:spPr>
            <a:xfrm>
              <a:off x="17321400" y="401760"/>
              <a:ext cx="298800" cy="61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3" name="Group 16"/>
          <p:cNvGrpSpPr/>
          <p:nvPr/>
        </p:nvGrpSpPr>
        <p:grpSpPr>
          <a:xfrm>
            <a:off x="17747640" y="283320"/>
            <a:ext cx="298800" cy="730440"/>
            <a:chOff x="17747640" y="283320"/>
            <a:chExt cx="298800" cy="730440"/>
          </a:xfrm>
        </p:grpSpPr>
        <p:sp>
          <p:nvSpPr>
            <p:cNvPr id="74" name="Freeform 17"/>
            <p:cNvSpPr/>
            <p:nvPr/>
          </p:nvSpPr>
          <p:spPr>
            <a:xfrm>
              <a:off x="17747640" y="375120"/>
              <a:ext cx="298800" cy="63864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638640"/>
                <a:gd name="textAreaBottom" fmla="*/ 639000 h 638640"/>
              </a:gdLst>
              <a:ahLst/>
              <a:cxnLst/>
              <a:rect l="textAreaLeft" t="textAreaTop" r="textAreaRight" b="textAreaBottom"/>
              <a:pathLst>
                <a:path w="124014" h="264943">
                  <a:moveTo>
                    <a:pt x="0" y="0"/>
                  </a:moveTo>
                  <a:lnTo>
                    <a:pt x="124014" y="0"/>
                  </a:lnTo>
                  <a:lnTo>
                    <a:pt x="124014" y="264943"/>
                  </a:lnTo>
                  <a:lnTo>
                    <a:pt x="0" y="264943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18"/>
            <p:cNvSpPr/>
            <p:nvPr/>
          </p:nvSpPr>
          <p:spPr>
            <a:xfrm>
              <a:off x="17747640" y="283320"/>
              <a:ext cx="298800" cy="73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6" name="AutoShape 19"/>
          <p:cNvSpPr/>
          <p:nvPr/>
        </p:nvSpPr>
        <p:spPr>
          <a:xfrm>
            <a:off x="191520" y="989964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reeform 20"/>
          <p:cNvSpPr/>
          <p:nvPr/>
        </p:nvSpPr>
        <p:spPr>
          <a:xfrm>
            <a:off x="13127040" y="4662000"/>
            <a:ext cx="1620000" cy="162000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1620000"/>
              <a:gd name="textAreaBottom" fmla="*/ 1620360 h 1620000"/>
            </a:gdLst>
            <a:ahLst/>
            <a:cxnLst/>
            <a:rect l="textAreaLeft" t="textAreaTop" r="textAreaRight" b="textAreaBottom"/>
            <a:pathLst>
              <a:path w="1620434" h="1620434">
                <a:moveTo>
                  <a:pt x="0" y="0"/>
                </a:moveTo>
                <a:lnTo>
                  <a:pt x="1620435" y="0"/>
                </a:lnTo>
                <a:lnTo>
                  <a:pt x="1620435" y="1620434"/>
                </a:lnTo>
                <a:lnTo>
                  <a:pt x="0" y="16204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Freeform 21"/>
          <p:cNvSpPr/>
          <p:nvPr/>
        </p:nvSpPr>
        <p:spPr>
          <a:xfrm>
            <a:off x="6742800" y="4662000"/>
            <a:ext cx="1620000" cy="162000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1620000"/>
              <a:gd name="textAreaBottom" fmla="*/ 1620360 h 1620000"/>
            </a:gdLst>
            <a:ahLst/>
            <a:cxnLst/>
            <a:rect l="textAreaLeft" t="textAreaTop" r="textAreaRight" b="textAreaBottom"/>
            <a:pathLst>
              <a:path w="1620434" h="1620434">
                <a:moveTo>
                  <a:pt x="0" y="0"/>
                </a:moveTo>
                <a:lnTo>
                  <a:pt x="1620435" y="0"/>
                </a:lnTo>
                <a:lnTo>
                  <a:pt x="1620435" y="1620434"/>
                </a:lnTo>
                <a:lnTo>
                  <a:pt x="0" y="16204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22"/>
          <p:cNvSpPr/>
          <p:nvPr/>
        </p:nvSpPr>
        <p:spPr>
          <a:xfrm>
            <a:off x="3548160" y="4662000"/>
            <a:ext cx="1620000" cy="162000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1620000"/>
              <a:gd name="textAreaBottom" fmla="*/ 1620360 h 1620000"/>
            </a:gdLst>
            <a:ahLst/>
            <a:cxnLst/>
            <a:rect l="textAreaLeft" t="textAreaTop" r="textAreaRight" b="textAreaBottom"/>
            <a:pathLst>
              <a:path w="1620434" h="1620434">
                <a:moveTo>
                  <a:pt x="0" y="0"/>
                </a:moveTo>
                <a:lnTo>
                  <a:pt x="1620435" y="0"/>
                </a:lnTo>
                <a:lnTo>
                  <a:pt x="1620435" y="1620434"/>
                </a:lnTo>
                <a:lnTo>
                  <a:pt x="0" y="16204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6"/>
          <p:cNvSpPr/>
          <p:nvPr/>
        </p:nvSpPr>
        <p:spPr>
          <a:xfrm>
            <a:off x="2324160" y="2463480"/>
            <a:ext cx="1391184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r>
              <a:rPr b="1" lang="en-US" sz="3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Projeto de Desenvolvimento de Dashboard Analítico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7"/>
          <p:cNvSpPr/>
          <p:nvPr/>
        </p:nvSpPr>
        <p:spPr>
          <a:xfrm>
            <a:off x="5123520" y="3101400"/>
            <a:ext cx="7692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01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Avaliação de produto 2 - Evidence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8"/>
          <p:cNvSpPr/>
          <p:nvPr/>
        </p:nvSpPr>
        <p:spPr>
          <a:xfrm>
            <a:off x="3428280" y="6418800"/>
            <a:ext cx="185940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Kayo Gabriel Soares da Silva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9"/>
          <p:cNvSpPr/>
          <p:nvPr/>
        </p:nvSpPr>
        <p:spPr>
          <a:xfrm>
            <a:off x="6400800" y="6401160"/>
            <a:ext cx="230400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Ruan Gustavo Soares da Silva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0"/>
          <p:cNvSpPr/>
          <p:nvPr/>
        </p:nvSpPr>
        <p:spPr>
          <a:xfrm>
            <a:off x="12967560" y="6418800"/>
            <a:ext cx="193860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Gabriel Pereira Goes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1"/>
          <p:cNvSpPr/>
          <p:nvPr/>
        </p:nvSpPr>
        <p:spPr>
          <a:xfrm>
            <a:off x="9592920" y="6401160"/>
            <a:ext cx="230400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Pedro Henrique Coelho Lovatti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5"/>
          <a:stretch/>
        </p:blipFill>
        <p:spPr>
          <a:xfrm>
            <a:off x="9900000" y="4680000"/>
            <a:ext cx="1620000" cy="16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-191520" y="-191520"/>
            <a:ext cx="383040" cy="383040"/>
            <a:chOff x="-191520" y="-191520"/>
            <a:chExt cx="383040" cy="383040"/>
          </a:xfrm>
        </p:grpSpPr>
        <p:sp>
          <p:nvSpPr>
            <p:cNvPr id="88" name="Freeform 3"/>
            <p:cNvSpPr/>
            <p:nvPr/>
          </p:nvSpPr>
          <p:spPr>
            <a:xfrm>
              <a:off x="-191520" y="-191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4"/>
            <p:cNvSpPr/>
            <p:nvPr/>
          </p:nvSpPr>
          <p:spPr>
            <a:xfrm>
              <a:off x="-155880" y="-17388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0" name="AutoShape 5"/>
          <p:cNvSpPr/>
          <p:nvPr/>
        </p:nvSpPr>
        <p:spPr>
          <a:xfrm>
            <a:off x="191520" y="989964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roup 6"/>
          <p:cNvGrpSpPr/>
          <p:nvPr/>
        </p:nvGrpSpPr>
        <p:grpSpPr>
          <a:xfrm>
            <a:off x="9053640" y="1912680"/>
            <a:ext cx="7976880" cy="5823000"/>
            <a:chOff x="9053640" y="1912680"/>
            <a:chExt cx="7976880" cy="5823000"/>
          </a:xfrm>
        </p:grpSpPr>
        <p:sp>
          <p:nvSpPr>
            <p:cNvPr id="92" name="Freeform 7"/>
            <p:cNvSpPr/>
            <p:nvPr/>
          </p:nvSpPr>
          <p:spPr>
            <a:xfrm>
              <a:off x="9053640" y="2057400"/>
              <a:ext cx="7976880" cy="5678280"/>
            </a:xfrm>
            <a:custGeom>
              <a:avLst/>
              <a:gdLst>
                <a:gd name="textAreaLeft" fmla="*/ 0 w 7976880"/>
                <a:gd name="textAreaRight" fmla="*/ 7977240 w 7976880"/>
                <a:gd name="textAreaTop" fmla="*/ 0 h 5678280"/>
                <a:gd name="textAreaBottom" fmla="*/ 5678640 h 5678280"/>
              </a:gdLst>
              <a:ahLst/>
              <a:cxnLst/>
              <a:rect l="textAreaLeft" t="textAreaTop" r="textAreaRight" b="textAreaBottom"/>
              <a:pathLst>
                <a:path w="2100972" h="1495612">
                  <a:moveTo>
                    <a:pt x="19410" y="0"/>
                  </a:moveTo>
                  <a:lnTo>
                    <a:pt x="2081562" y="0"/>
                  </a:lnTo>
                  <a:cubicBezTo>
                    <a:pt x="2086710" y="0"/>
                    <a:pt x="2091647" y="2045"/>
                    <a:pt x="2095287" y="5685"/>
                  </a:cubicBezTo>
                  <a:cubicBezTo>
                    <a:pt x="2098927" y="9325"/>
                    <a:pt x="2100972" y="14262"/>
                    <a:pt x="2100972" y="19410"/>
                  </a:cubicBezTo>
                  <a:lnTo>
                    <a:pt x="2100972" y="1476201"/>
                  </a:lnTo>
                  <a:cubicBezTo>
                    <a:pt x="2100972" y="1481349"/>
                    <a:pt x="2098927" y="1486286"/>
                    <a:pt x="2095287" y="1489926"/>
                  </a:cubicBezTo>
                  <a:cubicBezTo>
                    <a:pt x="2091647" y="1493566"/>
                    <a:pt x="2086710" y="1495612"/>
                    <a:pt x="2081562" y="1495612"/>
                  </a:cubicBezTo>
                  <a:lnTo>
                    <a:pt x="19410" y="1495612"/>
                  </a:lnTo>
                  <a:cubicBezTo>
                    <a:pt x="14262" y="1495612"/>
                    <a:pt x="9325" y="1493566"/>
                    <a:pt x="5685" y="1489926"/>
                  </a:cubicBezTo>
                  <a:cubicBezTo>
                    <a:pt x="2045" y="1486286"/>
                    <a:pt x="0" y="1481349"/>
                    <a:pt x="0" y="1476201"/>
                  </a:cubicBezTo>
                  <a:lnTo>
                    <a:pt x="0" y="19410"/>
                  </a:lnTo>
                  <a:cubicBezTo>
                    <a:pt x="0" y="14262"/>
                    <a:pt x="2045" y="9325"/>
                    <a:pt x="5685" y="5685"/>
                  </a:cubicBezTo>
                  <a:cubicBezTo>
                    <a:pt x="9325" y="2045"/>
                    <a:pt x="14262" y="0"/>
                    <a:pt x="1941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Box 8"/>
            <p:cNvSpPr/>
            <p:nvPr/>
          </p:nvSpPr>
          <p:spPr>
            <a:xfrm>
              <a:off x="9053640" y="1912680"/>
              <a:ext cx="7976880" cy="582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4" name="Freeform 9"/>
          <p:cNvSpPr/>
          <p:nvPr/>
        </p:nvSpPr>
        <p:spPr>
          <a:xfrm>
            <a:off x="8915400" y="1922400"/>
            <a:ext cx="7882560" cy="5637240"/>
          </a:xfrm>
          <a:custGeom>
            <a:avLst/>
            <a:gdLst>
              <a:gd name="textAreaLeft" fmla="*/ 0 w 7882560"/>
              <a:gd name="textAreaRight" fmla="*/ 7882920 w 7882560"/>
              <a:gd name="textAreaTop" fmla="*/ 0 h 5637240"/>
              <a:gd name="textAreaBottom" fmla="*/ 5637600 h 5637240"/>
            </a:gdLst>
            <a:ahLst/>
            <a:cxnLst/>
            <a:rect l="textAreaLeft" t="textAreaTop" r="textAreaRight" b="textAreaBottom"/>
            <a:pathLst>
              <a:path w="7882891" h="5637764">
                <a:moveTo>
                  <a:pt x="0" y="0"/>
                </a:moveTo>
                <a:lnTo>
                  <a:pt x="7882891" y="0"/>
                </a:lnTo>
                <a:lnTo>
                  <a:pt x="7882891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1503000" y="2601000"/>
            <a:ext cx="6939360" cy="31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BI as Code;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Markdown + SQL;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Análises fora do Power BI;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Versionamento e rastreio;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Dashboards ricos em contexto.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201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7262640" y="714600"/>
            <a:ext cx="34293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98"/>
              </a:lnSpc>
            </a:pPr>
            <a:r>
              <a:rPr b="1" lang="en-US" sz="3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Introdução</a:t>
            </a:r>
            <a:endParaRPr b="0" lang="pt-BR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"/>
          <p:cNvGrpSpPr/>
          <p:nvPr/>
        </p:nvGrpSpPr>
        <p:grpSpPr>
          <a:xfrm>
            <a:off x="-191520" y="-191520"/>
            <a:ext cx="383040" cy="383040"/>
            <a:chOff x="-191520" y="-191520"/>
            <a:chExt cx="383040" cy="383040"/>
          </a:xfrm>
        </p:grpSpPr>
        <p:sp>
          <p:nvSpPr>
            <p:cNvPr id="98" name="Freeform 3"/>
            <p:cNvSpPr/>
            <p:nvPr/>
          </p:nvSpPr>
          <p:spPr>
            <a:xfrm>
              <a:off x="-191520" y="-191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TextBox 4"/>
            <p:cNvSpPr/>
            <p:nvPr/>
          </p:nvSpPr>
          <p:spPr>
            <a:xfrm>
              <a:off x="-155880" y="-17388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0" name="AutoShape 5"/>
          <p:cNvSpPr/>
          <p:nvPr/>
        </p:nvSpPr>
        <p:spPr>
          <a:xfrm>
            <a:off x="191520" y="989964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Group 6"/>
          <p:cNvGrpSpPr/>
          <p:nvPr/>
        </p:nvGrpSpPr>
        <p:grpSpPr>
          <a:xfrm>
            <a:off x="10765080" y="2880720"/>
            <a:ext cx="4422240" cy="4422240"/>
            <a:chOff x="10765080" y="2880720"/>
            <a:chExt cx="4422240" cy="4422240"/>
          </a:xfrm>
        </p:grpSpPr>
        <p:sp>
          <p:nvSpPr>
            <p:cNvPr id="102" name="Freeform 7"/>
            <p:cNvSpPr/>
            <p:nvPr/>
          </p:nvSpPr>
          <p:spPr>
            <a:xfrm>
              <a:off x="10765080" y="2880720"/>
              <a:ext cx="4422240" cy="4422240"/>
            </a:xfrm>
            <a:custGeom>
              <a:avLst/>
              <a:gdLst>
                <a:gd name="textAreaLeft" fmla="*/ 0 w 4422240"/>
                <a:gd name="textAreaRight" fmla="*/ 4422600 w 4422240"/>
                <a:gd name="textAreaTop" fmla="*/ 0 h 4422240"/>
                <a:gd name="textAreaBottom" fmla="*/ 4422600 h 44222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be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extBox 8"/>
            <p:cNvSpPr/>
            <p:nvPr/>
          </p:nvSpPr>
          <p:spPr>
            <a:xfrm>
              <a:off x="11179800" y="3087720"/>
              <a:ext cx="3592800" cy="380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4" name="Freeform 9"/>
          <p:cNvSpPr/>
          <p:nvPr/>
        </p:nvSpPr>
        <p:spPr>
          <a:xfrm>
            <a:off x="10765080" y="295668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3293640" y="2823480"/>
            <a:ext cx="7471080" cy="42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Faz conexão com BD;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Executa as querys e registra o resultado em arquivo .parquet compactado;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Compila para site Svelte;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Conexão local com DuckDB Wasm para interatividade.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201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6191280" y="1303920"/>
            <a:ext cx="662472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98"/>
              </a:lnSpc>
            </a:pPr>
            <a:r>
              <a:rPr b="1" lang="en-US" sz="3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Sequencia de processos</a:t>
            </a:r>
            <a:endParaRPr b="0" lang="pt-BR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2"/>
          <p:cNvGrpSpPr/>
          <p:nvPr/>
        </p:nvGrpSpPr>
        <p:grpSpPr>
          <a:xfrm>
            <a:off x="-191520" y="-191520"/>
            <a:ext cx="383040" cy="383040"/>
            <a:chOff x="-191520" y="-191520"/>
            <a:chExt cx="383040" cy="383040"/>
          </a:xfrm>
        </p:grpSpPr>
        <p:sp>
          <p:nvSpPr>
            <p:cNvPr id="108" name="Freeform 3"/>
            <p:cNvSpPr/>
            <p:nvPr/>
          </p:nvSpPr>
          <p:spPr>
            <a:xfrm>
              <a:off x="-191520" y="-191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Box 4"/>
            <p:cNvSpPr/>
            <p:nvPr/>
          </p:nvSpPr>
          <p:spPr>
            <a:xfrm>
              <a:off x="-155880" y="-17388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0" name="AutoShape 5"/>
          <p:cNvSpPr/>
          <p:nvPr/>
        </p:nvSpPr>
        <p:spPr>
          <a:xfrm>
            <a:off x="191520" y="989964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Freeform 6"/>
          <p:cNvSpPr/>
          <p:nvPr/>
        </p:nvSpPr>
        <p:spPr>
          <a:xfrm>
            <a:off x="4420440" y="3094560"/>
            <a:ext cx="2951280" cy="2801160"/>
          </a:xfrm>
          <a:custGeom>
            <a:avLst/>
            <a:gdLst>
              <a:gd name="textAreaLeft" fmla="*/ 0 w 2951280"/>
              <a:gd name="textAreaRight" fmla="*/ 2951640 w 2951280"/>
              <a:gd name="textAreaTop" fmla="*/ 0 h 2801160"/>
              <a:gd name="textAreaBottom" fmla="*/ 2801520 h 2801160"/>
            </a:gdLst>
            <a:ahLst/>
            <a:cxnLst/>
            <a:rect l="textAreaLeft" t="textAreaTop" r="textAreaRight" b="textAreaBottom"/>
            <a:pathLst>
              <a:path w="2951723" h="2801453">
                <a:moveTo>
                  <a:pt x="0" y="0"/>
                </a:moveTo>
                <a:lnTo>
                  <a:pt x="2951723" y="0"/>
                </a:lnTo>
                <a:lnTo>
                  <a:pt x="2951723" y="2801454"/>
                </a:lnTo>
                <a:lnTo>
                  <a:pt x="0" y="280145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7872480" y="3247920"/>
            <a:ext cx="6939360" cy="26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O caos do "arrasta e solta" e dashboards quebrados;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Falta de lastreio;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Falta de contexto nos relatórios.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201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4287240" y="2058480"/>
            <a:ext cx="95727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98"/>
              </a:lnSpc>
            </a:pPr>
            <a:r>
              <a:rPr b="1" lang="en-US" sz="3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Problemas que o Evidence resolve</a:t>
            </a:r>
            <a:endParaRPr b="0" lang="pt-BR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2"/>
          <p:cNvGrpSpPr/>
          <p:nvPr/>
        </p:nvGrpSpPr>
        <p:grpSpPr>
          <a:xfrm>
            <a:off x="-191520" y="-191520"/>
            <a:ext cx="383040" cy="383040"/>
            <a:chOff x="-191520" y="-191520"/>
            <a:chExt cx="383040" cy="383040"/>
          </a:xfrm>
        </p:grpSpPr>
        <p:sp>
          <p:nvSpPr>
            <p:cNvPr id="115" name="Freeform 3"/>
            <p:cNvSpPr/>
            <p:nvPr/>
          </p:nvSpPr>
          <p:spPr>
            <a:xfrm>
              <a:off x="-191520" y="-191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TextBox 4"/>
            <p:cNvSpPr/>
            <p:nvPr/>
          </p:nvSpPr>
          <p:spPr>
            <a:xfrm>
              <a:off x="-155880" y="-17388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7" name="AutoShape 5"/>
          <p:cNvSpPr/>
          <p:nvPr/>
        </p:nvSpPr>
        <p:spPr>
          <a:xfrm>
            <a:off x="191520" y="989964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2204280" y="3204720"/>
            <a:ext cx="6939360" cy="37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Curva de aprendizagem para não técnicos;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Não é para dados em tempo real;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Menos opções visuais "prontas da caixa";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Interatividade ad-hoc limitada pelo utilizador final.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5572800" y="1611720"/>
            <a:ext cx="695520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98"/>
              </a:lnSpc>
            </a:pPr>
            <a:r>
              <a:rPr b="1" lang="en-US" sz="3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Pontos fracos e fortes</a:t>
            </a:r>
            <a:endParaRPr b="0" lang="pt-BR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9627480" y="3204720"/>
            <a:ext cx="6939360" cy="42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Velocidade de carregamento imbatível;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Custo de infraestrutura próximo de zero;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Fluxo para Engenheiros de Dados;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Sem licenças por utilizador;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7640" indent="-324000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Possui hot reload.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201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2"/>
          <p:cNvGrpSpPr/>
          <p:nvPr/>
        </p:nvGrpSpPr>
        <p:grpSpPr>
          <a:xfrm>
            <a:off x="-191520" y="-191520"/>
            <a:ext cx="383040" cy="383040"/>
            <a:chOff x="-191520" y="-191520"/>
            <a:chExt cx="383040" cy="383040"/>
          </a:xfrm>
        </p:grpSpPr>
        <p:sp>
          <p:nvSpPr>
            <p:cNvPr id="122" name="Freeform 3"/>
            <p:cNvSpPr/>
            <p:nvPr/>
          </p:nvSpPr>
          <p:spPr>
            <a:xfrm>
              <a:off x="-191520" y="-19152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4"/>
            <p:cNvSpPr/>
            <p:nvPr/>
          </p:nvSpPr>
          <p:spPr>
            <a:xfrm>
              <a:off x="-155880" y="-17388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4" name="AutoShape 5"/>
          <p:cNvSpPr/>
          <p:nvPr/>
        </p:nvSpPr>
        <p:spPr>
          <a:xfrm>
            <a:off x="191520" y="989964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Group 6"/>
          <p:cNvGrpSpPr/>
          <p:nvPr/>
        </p:nvGrpSpPr>
        <p:grpSpPr>
          <a:xfrm>
            <a:off x="2305080" y="1844640"/>
            <a:ext cx="13843080" cy="7161120"/>
            <a:chOff x="2305080" y="1844640"/>
            <a:chExt cx="13843080" cy="7161120"/>
          </a:xfrm>
        </p:grpSpPr>
        <p:sp>
          <p:nvSpPr>
            <p:cNvPr id="126" name="Freeform 7"/>
            <p:cNvSpPr/>
            <p:nvPr/>
          </p:nvSpPr>
          <p:spPr>
            <a:xfrm>
              <a:off x="2305080" y="1975320"/>
              <a:ext cx="13843080" cy="7030440"/>
            </a:xfrm>
            <a:custGeom>
              <a:avLst/>
              <a:gdLst>
                <a:gd name="textAreaLeft" fmla="*/ 0 w 13843080"/>
                <a:gd name="textAreaRight" fmla="*/ 13843440 w 13843080"/>
                <a:gd name="textAreaTop" fmla="*/ 0 h 7030440"/>
                <a:gd name="textAreaBottom" fmla="*/ 7030800 h 7030440"/>
              </a:gdLst>
              <a:ahLst/>
              <a:cxnLst/>
              <a:rect l="textAreaLeft" t="textAreaTop" r="textAreaRight" b="textAreaBottom"/>
              <a:pathLst>
                <a:path w="4029657" h="2046559">
                  <a:moveTo>
                    <a:pt x="5592" y="0"/>
                  </a:moveTo>
                  <a:lnTo>
                    <a:pt x="4024064" y="0"/>
                  </a:lnTo>
                  <a:cubicBezTo>
                    <a:pt x="4027153" y="0"/>
                    <a:pt x="4029657" y="2504"/>
                    <a:pt x="4029657" y="5592"/>
                  </a:cubicBezTo>
                  <a:lnTo>
                    <a:pt x="4029657" y="2040967"/>
                  </a:lnTo>
                  <a:cubicBezTo>
                    <a:pt x="4029657" y="2044055"/>
                    <a:pt x="4027153" y="2046559"/>
                    <a:pt x="4024064" y="2046559"/>
                  </a:cubicBezTo>
                  <a:lnTo>
                    <a:pt x="5592" y="2046559"/>
                  </a:lnTo>
                  <a:cubicBezTo>
                    <a:pt x="4109" y="2046559"/>
                    <a:pt x="2687" y="2045970"/>
                    <a:pt x="1638" y="2044921"/>
                  </a:cubicBezTo>
                  <a:cubicBezTo>
                    <a:pt x="589" y="2043872"/>
                    <a:pt x="0" y="2042450"/>
                    <a:pt x="0" y="2040967"/>
                  </a:cubicBezTo>
                  <a:lnTo>
                    <a:pt x="0" y="5592"/>
                  </a:lnTo>
                  <a:cubicBezTo>
                    <a:pt x="0" y="2504"/>
                    <a:pt x="2504" y="0"/>
                    <a:pt x="5592" y="0"/>
                  </a:cubicBezTo>
                  <a:close/>
                </a:path>
              </a:pathLst>
            </a:custGeom>
            <a:solidFill>
              <a:srgbClr val="bcbe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Box 8"/>
            <p:cNvSpPr/>
            <p:nvPr/>
          </p:nvSpPr>
          <p:spPr>
            <a:xfrm>
              <a:off x="2305080" y="1844640"/>
              <a:ext cx="13843080" cy="716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8" name="Freeform 9"/>
          <p:cNvSpPr/>
          <p:nvPr/>
        </p:nvSpPr>
        <p:spPr>
          <a:xfrm>
            <a:off x="2139480" y="1794600"/>
            <a:ext cx="13861800" cy="7063560"/>
          </a:xfrm>
          <a:custGeom>
            <a:avLst/>
            <a:gdLst>
              <a:gd name="textAreaLeft" fmla="*/ 0 w 13861800"/>
              <a:gd name="textAreaRight" fmla="*/ 13862160 w 13861800"/>
              <a:gd name="textAreaTop" fmla="*/ 0 h 7063560"/>
              <a:gd name="textAreaBottom" fmla="*/ 7063920 h 7063560"/>
            </a:gdLst>
            <a:ahLst/>
            <a:cxnLst/>
            <a:rect l="textAreaLeft" t="textAreaTop" r="textAreaRight" b="textAreaBottom"/>
            <a:pathLst>
              <a:path w="13862303" h="7063998">
                <a:moveTo>
                  <a:pt x="0" y="0"/>
                </a:moveTo>
                <a:lnTo>
                  <a:pt x="13862302" y="0"/>
                </a:lnTo>
                <a:lnTo>
                  <a:pt x="13862302" y="7063998"/>
                </a:lnTo>
                <a:lnTo>
                  <a:pt x="0" y="706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314040" y="961920"/>
            <a:ext cx="578196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r>
              <a:rPr b="1" lang="en-US" sz="3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Evidence em uso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6"/>
          <p:cNvSpPr/>
          <p:nvPr/>
        </p:nvSpPr>
        <p:spPr>
          <a:xfrm>
            <a:off x="6480000" y="3780000"/>
            <a:ext cx="521928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Vamos praticar!</a:t>
            </a:r>
            <a:endParaRPr b="1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AutoShape 1"/>
          <p:cNvSpPr/>
          <p:nvPr/>
        </p:nvSpPr>
        <p:spPr>
          <a:xfrm>
            <a:off x="191880" y="9900000"/>
            <a:ext cx="17901720" cy="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lg" type="diamond" w="lg"/>
            <a:tailEnd len="lg" type="diamond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2" name="Group 1"/>
          <p:cNvGrpSpPr/>
          <p:nvPr/>
        </p:nvGrpSpPr>
        <p:grpSpPr>
          <a:xfrm>
            <a:off x="-191160" y="-191160"/>
            <a:ext cx="383040" cy="383040"/>
            <a:chOff x="-191160" y="-191160"/>
            <a:chExt cx="383040" cy="383040"/>
          </a:xfrm>
        </p:grpSpPr>
        <p:sp>
          <p:nvSpPr>
            <p:cNvPr id="133" name="Freeform 1"/>
            <p:cNvSpPr/>
            <p:nvPr/>
          </p:nvSpPr>
          <p:spPr>
            <a:xfrm>
              <a:off x="-191160" y="-191160"/>
              <a:ext cx="383040" cy="38304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71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1"/>
            <p:cNvSpPr/>
            <p:nvPr/>
          </p:nvSpPr>
          <p:spPr>
            <a:xfrm>
              <a:off x="-155520" y="-173520"/>
              <a:ext cx="311040" cy="32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35" name="AutoShape 2"/>
          <p:cNvSpPr/>
          <p:nvPr/>
        </p:nvSpPr>
        <p:spPr>
          <a:xfrm flipV="1">
            <a:off x="16288920" y="475920"/>
            <a:ext cx="1908360" cy="547560"/>
          </a:xfrm>
          <a:prstGeom prst="line">
            <a:avLst/>
          </a:prstGeom>
          <a:ln w="38100">
            <a:solidFill>
              <a:srgbClr val="62362f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Group 3"/>
          <p:cNvGrpSpPr/>
          <p:nvPr/>
        </p:nvGrpSpPr>
        <p:grpSpPr>
          <a:xfrm>
            <a:off x="16895520" y="475200"/>
            <a:ext cx="298800" cy="547920"/>
            <a:chOff x="16895520" y="475200"/>
            <a:chExt cx="298800" cy="547920"/>
          </a:xfrm>
        </p:grpSpPr>
        <p:sp>
          <p:nvSpPr>
            <p:cNvPr id="137" name="Freeform 2"/>
            <p:cNvSpPr/>
            <p:nvPr/>
          </p:nvSpPr>
          <p:spPr>
            <a:xfrm>
              <a:off x="16895520" y="567000"/>
              <a:ext cx="298800" cy="45612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456120"/>
                <a:gd name="textAreaBottom" fmla="*/ 456480 h 456120"/>
              </a:gdLst>
              <a:ahLst/>
              <a:cxnLst/>
              <a:rect l="textAreaLeft" t="textAreaTop" r="textAreaRight" b="textAreaBottom"/>
              <a:pathLst>
                <a:path w="124014" h="189253">
                  <a:moveTo>
                    <a:pt x="0" y="0"/>
                  </a:moveTo>
                  <a:lnTo>
                    <a:pt x="124014" y="0"/>
                  </a:lnTo>
                  <a:lnTo>
                    <a:pt x="124014" y="189253"/>
                  </a:lnTo>
                  <a:lnTo>
                    <a:pt x="0" y="189253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TextBox 2"/>
            <p:cNvSpPr/>
            <p:nvPr/>
          </p:nvSpPr>
          <p:spPr>
            <a:xfrm>
              <a:off x="16895520" y="475200"/>
              <a:ext cx="29880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9" name="Group 4"/>
          <p:cNvGrpSpPr/>
          <p:nvPr/>
        </p:nvGrpSpPr>
        <p:grpSpPr>
          <a:xfrm>
            <a:off x="16472160" y="292680"/>
            <a:ext cx="298800" cy="730440"/>
            <a:chOff x="16472160" y="292680"/>
            <a:chExt cx="298800" cy="730440"/>
          </a:xfrm>
        </p:grpSpPr>
        <p:sp>
          <p:nvSpPr>
            <p:cNvPr id="140" name="Freeform 4"/>
            <p:cNvSpPr/>
            <p:nvPr/>
          </p:nvSpPr>
          <p:spPr>
            <a:xfrm>
              <a:off x="16472160" y="384480"/>
              <a:ext cx="298800" cy="63864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638640"/>
                <a:gd name="textAreaBottom" fmla="*/ 639000 h 638640"/>
              </a:gdLst>
              <a:ahLst/>
              <a:cxnLst/>
              <a:rect l="textAreaLeft" t="textAreaTop" r="textAreaRight" b="textAreaBottom"/>
              <a:pathLst>
                <a:path w="124014" h="264943">
                  <a:moveTo>
                    <a:pt x="0" y="0"/>
                  </a:moveTo>
                  <a:lnTo>
                    <a:pt x="124014" y="0"/>
                  </a:lnTo>
                  <a:lnTo>
                    <a:pt x="124014" y="264943"/>
                  </a:lnTo>
                  <a:lnTo>
                    <a:pt x="0" y="264943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3"/>
            <p:cNvSpPr/>
            <p:nvPr/>
          </p:nvSpPr>
          <p:spPr>
            <a:xfrm>
              <a:off x="16472160" y="292680"/>
              <a:ext cx="298800" cy="73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42" name="Group 5"/>
          <p:cNvGrpSpPr/>
          <p:nvPr/>
        </p:nvGrpSpPr>
        <p:grpSpPr>
          <a:xfrm>
            <a:off x="17748000" y="292680"/>
            <a:ext cx="298800" cy="730440"/>
            <a:chOff x="17748000" y="292680"/>
            <a:chExt cx="298800" cy="730440"/>
          </a:xfrm>
        </p:grpSpPr>
        <p:sp>
          <p:nvSpPr>
            <p:cNvPr id="143" name="Freeform 10"/>
            <p:cNvSpPr/>
            <p:nvPr/>
          </p:nvSpPr>
          <p:spPr>
            <a:xfrm>
              <a:off x="17748000" y="384480"/>
              <a:ext cx="298800" cy="63864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638640"/>
                <a:gd name="textAreaBottom" fmla="*/ 639000 h 638640"/>
              </a:gdLst>
              <a:ahLst/>
              <a:cxnLst/>
              <a:rect l="textAreaLeft" t="textAreaTop" r="textAreaRight" b="textAreaBottom"/>
              <a:pathLst>
                <a:path w="124014" h="264943">
                  <a:moveTo>
                    <a:pt x="0" y="0"/>
                  </a:moveTo>
                  <a:lnTo>
                    <a:pt x="124014" y="0"/>
                  </a:lnTo>
                  <a:lnTo>
                    <a:pt x="124014" y="264943"/>
                  </a:lnTo>
                  <a:lnTo>
                    <a:pt x="0" y="264943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Box 5"/>
            <p:cNvSpPr/>
            <p:nvPr/>
          </p:nvSpPr>
          <p:spPr>
            <a:xfrm>
              <a:off x="17748000" y="292680"/>
              <a:ext cx="298800" cy="73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45" name="Group 8"/>
          <p:cNvGrpSpPr/>
          <p:nvPr/>
        </p:nvGrpSpPr>
        <p:grpSpPr>
          <a:xfrm>
            <a:off x="17321760" y="402120"/>
            <a:ext cx="298800" cy="612360"/>
            <a:chOff x="17321760" y="402120"/>
            <a:chExt cx="298800" cy="612360"/>
          </a:xfrm>
        </p:grpSpPr>
        <p:sp>
          <p:nvSpPr>
            <p:cNvPr id="146" name="Freeform 12"/>
            <p:cNvSpPr/>
            <p:nvPr/>
          </p:nvSpPr>
          <p:spPr>
            <a:xfrm>
              <a:off x="17321760" y="494280"/>
              <a:ext cx="298800" cy="52020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520200"/>
                <a:gd name="textAreaBottom" fmla="*/ 520560 h 520200"/>
              </a:gdLst>
              <a:ahLst/>
              <a:cxnLst/>
              <a:rect l="textAreaLeft" t="textAreaTop" r="textAreaRight" b="textAreaBottom"/>
              <a:pathLst>
                <a:path w="124014" h="215744">
                  <a:moveTo>
                    <a:pt x="0" y="0"/>
                  </a:moveTo>
                  <a:lnTo>
                    <a:pt x="124014" y="0"/>
                  </a:lnTo>
                  <a:lnTo>
                    <a:pt x="124014" y="215744"/>
                  </a:lnTo>
                  <a:lnTo>
                    <a:pt x="0" y="215744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TextBox 13"/>
            <p:cNvSpPr/>
            <p:nvPr/>
          </p:nvSpPr>
          <p:spPr>
            <a:xfrm>
              <a:off x="17321760" y="402120"/>
              <a:ext cx="298800" cy="61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DAHYGIkpiZg</dc:identifier>
  <dc:language>pt-BR</dc:language>
  <cp:lastModifiedBy/>
  <dcterms:modified xsi:type="dcterms:W3CDTF">2026-10-16T23:15:16Z</dcterms:modified>
  <cp:revision>3</cp:revision>
  <dc:subject/>
  <dc:title>Evidence BI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